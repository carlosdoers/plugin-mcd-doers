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8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418320" y="-1463040"/>
            <a:ext cx="4206240" cy="4206240"/>
          </a:xfrm>
          <a:prstGeom prst="ellipse">
            <a:avLst/>
          </a:prstGeom>
          <a:solidFill>
            <a:srgbClr val="23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07040" y="4389120"/>
            <a:ext cx="2926080" cy="2926080"/>
          </a:xfrm>
          <a:prstGeom prst="ellipse">
            <a:avLst/>
          </a:prstGeom>
          <a:solidFill>
            <a:srgbClr val="1C2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9DB2FF"/>
                </a:solidFill>
                <a:latin typeface="Calibri"/>
              </a:rPr>
              <a:t>DOERS · WORDPRESS + 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106070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Georgia"/>
              </a:rPr>
              <a:t>Doers AI Connector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154680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CADCFC"/>
                </a:solidFill>
                <a:latin typeface="Calibri"/>
              </a:rPr>
              <a:t>Conectar y desarrollar webs WordPress hablando con la IA, mediante MCP.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297680"/>
            <a:ext cx="1828800" cy="502920"/>
          </a:xfrm>
          <a:prstGeom prst="roundRect">
            <a:avLst/>
          </a:prstGeom>
          <a:solidFill>
            <a:srgbClr val="2B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297680"/>
            <a:ext cx="1828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Versión 0.7.0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4297680"/>
            <a:ext cx="5486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9DB2FF"/>
                </a:solidFill>
                <a:latin typeface="Calibri"/>
              </a:rPr>
              <a:t>Resumen para el equipo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B5CFF"/>
                </a:solidFill>
                <a:latin typeface="Calibri"/>
              </a:rPr>
              <a:t>LA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13183B"/>
                </a:solidFill>
                <a:latin typeface="Georgia"/>
              </a:rPr>
              <a:t>De “hazlo a mano en wp-admin” a “pídeselo a la IA”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521208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0312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B00014"/>
                </a:solidFill>
                <a:latin typeface="Calibri"/>
              </a:rPr>
              <a:t>El reto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697480"/>
            <a:ext cx="45720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50" b="0" i="0">
                <a:solidFill>
                  <a:srgbClr val="222733"/>
                </a:solidFill>
                <a:latin typeface="Calibri"/>
              </a:rPr>
              <a:t>•   Cada cambio exige conocer WordPress y el tema a medida.</a:t>
            </a:r>
          </a:p>
          <a:p>
            <a:pPr algn="l">
              <a:spcAft>
                <a:spcPts val="800"/>
              </a:spcAft>
            </a:pPr>
            <a:r>
              <a:rPr sz="1450" b="0" i="0">
                <a:solidFill>
                  <a:srgbClr val="222733"/>
                </a:solidFill>
                <a:latin typeface="Calibri"/>
              </a:rPr>
              <a:t>•   Tareas repetitivas: contenido, ajustes, bloques nuevos.</a:t>
            </a:r>
          </a:p>
          <a:p>
            <a:pPr algn="l">
              <a:spcAft>
                <a:spcPts val="800"/>
              </a:spcAft>
            </a:pPr>
            <a:r>
              <a:rPr sz="1450" b="0" i="0">
                <a:solidFill>
                  <a:srgbClr val="222733"/>
                </a:solidFill>
                <a:latin typeface="Calibri"/>
              </a:rPr>
              <a:t>•   El contexto del proyecto vive en la cabeza del equipo.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828800"/>
            <a:ext cx="5212080" cy="4023360"/>
          </a:xfrm>
          <a:prstGeom prst="roundRect">
            <a:avLst/>
          </a:prstGeom>
          <a:solidFill>
            <a:srgbClr val="EEF2FB"/>
          </a:solidFill>
          <a:ln w="12700">
            <a:solidFill>
              <a:srgbClr val="D7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210312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6864A"/>
                </a:solidFill>
                <a:latin typeface="Calibri"/>
              </a:rPr>
              <a:t>La solución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697480"/>
            <a:ext cx="45720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50" b="0" i="0">
                <a:solidFill>
                  <a:srgbClr val="222733"/>
                </a:solidFill>
                <a:latin typeface="Calibri"/>
              </a:rPr>
              <a:t>•   La web se vuelve un servidor MCP que la IA puede usar.</a:t>
            </a:r>
          </a:p>
          <a:p>
            <a:pPr algn="l">
              <a:spcAft>
                <a:spcPts val="800"/>
              </a:spcAft>
            </a:pPr>
            <a:r>
              <a:rPr sz="1450" b="0" i="0">
                <a:solidFill>
                  <a:srgbClr val="222733"/>
                </a:solidFill>
                <a:latin typeface="Calibri"/>
              </a:rPr>
              <a:t>•   Pides en lenguaje natural; la IA ejecuta con permisos.</a:t>
            </a:r>
          </a:p>
          <a:p>
            <a:pPr algn="l">
              <a:spcAft>
                <a:spcPts val="800"/>
              </a:spcAft>
            </a:pPr>
            <a:r>
              <a:rPr sz="1450" b="0" i="0">
                <a:solidFill>
                  <a:srgbClr val="222733"/>
                </a:solidFill>
                <a:latin typeface="Calibri"/>
              </a:rPr>
              <a:t>•   Con seguridad, auditoría y el contexto del proyecto.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B5CFF"/>
                </a:solidFill>
                <a:latin typeface="Calibri"/>
              </a:rPr>
              <a:t>CÓMO FUNCIONA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13183B"/>
                </a:solidFill>
                <a:latin typeface="Georgia"/>
              </a:rPr>
              <a:t>WordPress se convierte en servidor MCP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377440"/>
            <a:ext cx="3017520" cy="1737360"/>
          </a:xfrm>
          <a:prstGeom prst="roundRect">
            <a:avLst/>
          </a:prstGeom>
          <a:solidFill>
            <a:srgbClr val="EEF2FB"/>
          </a:solidFill>
          <a:ln w="12700">
            <a:solidFill>
              <a:srgbClr val="D7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13183B"/>
                </a:solidFill>
                <a:latin typeface="Calibri"/>
              </a:rPr>
              <a:t>Tu WordPress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3108960"/>
            <a:ext cx="26517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 i="0">
                <a:solidFill>
                  <a:srgbClr val="64748B"/>
                </a:solidFill>
                <a:latin typeface="Calibri"/>
              </a:rPr>
              <a:t>+ plugin Doers AI Connector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2377440"/>
            <a:ext cx="3017520" cy="1737360"/>
          </a:xfrm>
          <a:prstGeom prst="roundRect">
            <a:avLst/>
          </a:prstGeom>
          <a:solidFill>
            <a:srgbClr val="13183B"/>
          </a:solidFill>
          <a:ln w="12700">
            <a:solidFill>
              <a:srgbClr val="D7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260604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Servidor MCP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3108960"/>
            <a:ext cx="26517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 i="0">
                <a:solidFill>
                  <a:srgbClr val="CADCFC"/>
                </a:solidFill>
                <a:latin typeface="Calibri"/>
              </a:rPr>
              <a:t>Abilities API + MCP Adapter
/wp-json/doers-ai/mcp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03920" y="2377440"/>
            <a:ext cx="3017520" cy="1737360"/>
          </a:xfrm>
          <a:prstGeom prst="roundRect">
            <a:avLst/>
          </a:prstGeom>
          <a:solidFill>
            <a:srgbClr val="EEF2FB"/>
          </a:solidFill>
          <a:ln w="12700">
            <a:solidFill>
              <a:srgbClr val="D7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260604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13183B"/>
                </a:solidFill>
                <a:latin typeface="Calibri"/>
              </a:rPr>
              <a:t>Claude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3108960"/>
            <a:ext cx="26517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 i="0">
                <a:solidFill>
                  <a:srgbClr val="64748B"/>
                </a:solidFill>
                <a:latin typeface="Calibri"/>
              </a:rPr>
              <a:t>App · Desktop · claude.ai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703320" y="3108960"/>
            <a:ext cx="822960" cy="256032"/>
          </a:xfrm>
          <a:prstGeom prst="rightArrow">
            <a:avLst/>
          </a:prstGeom>
          <a:solidFill>
            <a:srgbClr val="2B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ight Arrow 13"/>
          <p:cNvSpPr/>
          <p:nvPr/>
        </p:nvSpPr>
        <p:spPr>
          <a:xfrm>
            <a:off x="7635240" y="3108960"/>
            <a:ext cx="822960" cy="256032"/>
          </a:xfrm>
          <a:prstGeom prst="rightArrow">
            <a:avLst/>
          </a:prstGeom>
          <a:solidFill>
            <a:srgbClr val="2B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7091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64748B"/>
                </a:solidFill>
                <a:latin typeface="Calibri"/>
              </a:rPr>
              <a:t>Dos vías de conexión:  en local, proxy con usuario dedicado + contraseña de aplicación   ·   en HTTPS, conector directo con OAuth (un clic).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B5CFF"/>
                </a:solidFill>
                <a:latin typeface="Calibri"/>
              </a:rPr>
              <a:t>EL MODELO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13183B"/>
                </a:solidFill>
                <a:latin typeface="Georgia"/>
              </a:rPr>
              <a:t>Dos carriles de trabajo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521208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05840" y="2148840"/>
            <a:ext cx="2286000" cy="502920"/>
          </a:xfrm>
          <a:prstGeom prst="roundRect">
            <a:avLst/>
          </a:prstGeom>
          <a:solidFill>
            <a:srgbClr val="2B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2286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POR MCP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83464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3183B"/>
                </a:solidFill>
                <a:latin typeface="Calibri"/>
              </a:rPr>
              <a:t>Contenido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337560"/>
            <a:ext cx="45720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22733"/>
                </a:solidFill>
                <a:latin typeface="Calibri"/>
              </a:rPr>
              <a:t>Páginas y entradas, menús, medios.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22733"/>
                </a:solidFill>
                <a:latin typeface="Calibri"/>
              </a:rPr>
              <a:t>Portada y ajustes del sitio.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22733"/>
                </a:solidFill>
                <a:latin typeface="Calibri"/>
              </a:rPr>
              <a:t>Contexto del proyecto.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22733"/>
                </a:solidFill>
                <a:latin typeface="Calibri"/>
              </a:rPr>
              <a:t>Lo ejecuta la IA con las acciones del plugin.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828800"/>
            <a:ext cx="521208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675120" y="2148840"/>
            <a:ext cx="2286000" cy="502920"/>
          </a:xfrm>
          <a:prstGeom prst="roundRect">
            <a:avLst/>
          </a:prstGeom>
          <a:solidFill>
            <a:srgbClr val="2B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2148840"/>
            <a:ext cx="2286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POR ARCHIVOS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83464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3183B"/>
                </a:solidFill>
                <a:latin typeface="Calibri"/>
              </a:rPr>
              <a:t>Tema y código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3337560"/>
            <a:ext cx="45720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22733"/>
                </a:solidFill>
                <a:latin typeface="Calibri"/>
              </a:rPr>
              <a:t>Plantillas, CSS/JS y bloques.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22733"/>
                </a:solidFill>
                <a:latin typeface="Calibri"/>
              </a:rPr>
              <a:t>En la carpeta del sitio conectada a Claude.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22733"/>
                </a:solidFill>
                <a:latin typeface="Calibri"/>
              </a:rPr>
              <a:t>Versionable en git y desplegable.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B5CFF"/>
                </a:solidFill>
                <a:latin typeface="Calibri"/>
              </a:rPr>
              <a:t>CAPACIDADES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13183B"/>
                </a:solidFill>
                <a:latin typeface="Georgia"/>
              </a:rPr>
              <a:t>Qué permite hacer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3502152" cy="1737360"/>
          </a:xfrm>
          <a:prstGeom prst="roundRect">
            <a:avLst/>
          </a:prstGeom>
          <a:solidFill>
            <a:srgbClr val="EEF2FB"/>
          </a:solidFill>
          <a:ln w="12700">
            <a:solidFill>
              <a:srgbClr val="D7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2139696"/>
            <a:ext cx="292608" cy="292608"/>
          </a:xfrm>
          <a:prstGeom prst="ellipse">
            <a:avLst/>
          </a:prstGeom>
          <a:solidFill>
            <a:srgbClr val="2B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53312" y="2084832"/>
            <a:ext cx="2587752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3183B"/>
                </a:solidFill>
                <a:latin typeface="Calibri"/>
              </a:rPr>
              <a:t>Contenido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633472"/>
            <a:ext cx="295351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64748B"/>
                </a:solidFill>
                <a:latin typeface="Calibri"/>
              </a:rPr>
              <a:t>Crear y editar páginas y entradas, fijar la portada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62272" y="1828800"/>
            <a:ext cx="3502152" cy="1737360"/>
          </a:xfrm>
          <a:prstGeom prst="roundRect">
            <a:avLst/>
          </a:prstGeom>
          <a:solidFill>
            <a:srgbClr val="EEF2FB"/>
          </a:solidFill>
          <a:ln w="12700">
            <a:solidFill>
              <a:srgbClr val="D7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736592" y="2139696"/>
            <a:ext cx="292608" cy="292608"/>
          </a:xfrm>
          <a:prstGeom prst="ellipse">
            <a:avLst/>
          </a:prstGeom>
          <a:solidFill>
            <a:srgbClr val="2B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75504" y="2084832"/>
            <a:ext cx="2587752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3183B"/>
                </a:solidFill>
                <a:latin typeface="Calibri"/>
              </a:rPr>
              <a:t>Archivos de tema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633472"/>
            <a:ext cx="295351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64748B"/>
                </a:solidFill>
                <a:latin typeface="Calibri"/>
              </a:rPr>
              <a:t>Leer y escribir plantillas, CSS y bloques, con backup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84463" y="1828800"/>
            <a:ext cx="3502152" cy="1737360"/>
          </a:xfrm>
          <a:prstGeom prst="roundRect">
            <a:avLst/>
          </a:prstGeom>
          <a:solidFill>
            <a:srgbClr val="EEF2FB"/>
          </a:solidFill>
          <a:ln w="12700">
            <a:solidFill>
              <a:srgbClr val="D7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558784" y="2139696"/>
            <a:ext cx="292608" cy="292608"/>
          </a:xfrm>
          <a:prstGeom prst="ellipse">
            <a:avLst/>
          </a:prstGeom>
          <a:solidFill>
            <a:srgbClr val="2B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97695" y="2084832"/>
            <a:ext cx="2587752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3183B"/>
                </a:solidFill>
                <a:latin typeface="Calibri"/>
              </a:rPr>
              <a:t>Temas y plantillas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7072" y="2633472"/>
            <a:ext cx="295351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64748B"/>
                </a:solidFill>
                <a:latin typeface="Calibri"/>
              </a:rPr>
              <a:t>Activar temas, plantillas FSE y menús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840479"/>
            <a:ext cx="3502152" cy="1737360"/>
          </a:xfrm>
          <a:prstGeom prst="roundRect">
            <a:avLst/>
          </a:prstGeom>
          <a:solidFill>
            <a:srgbClr val="EEF2FB"/>
          </a:solidFill>
          <a:ln w="12700">
            <a:solidFill>
              <a:srgbClr val="D7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151375"/>
            <a:ext cx="292608" cy="292608"/>
          </a:xfrm>
          <a:prstGeom prst="ellipse">
            <a:avLst/>
          </a:prstGeom>
          <a:solidFill>
            <a:srgbClr val="2B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53312" y="4096511"/>
            <a:ext cx="2587752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3183B"/>
                </a:solidFill>
                <a:latin typeface="Calibri"/>
              </a:rPr>
              <a:t>Plugins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4645151"/>
            <a:ext cx="295351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64748B"/>
                </a:solidFill>
                <a:latin typeface="Calibri"/>
              </a:rPr>
              <a:t>Listar, activar/desactivar e instalar de WordPress.org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62272" y="3840479"/>
            <a:ext cx="3502152" cy="1737360"/>
          </a:xfrm>
          <a:prstGeom prst="roundRect">
            <a:avLst/>
          </a:prstGeom>
          <a:solidFill>
            <a:srgbClr val="EEF2FB"/>
          </a:solidFill>
          <a:ln w="12700">
            <a:solidFill>
              <a:srgbClr val="D7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736592" y="4151375"/>
            <a:ext cx="292608" cy="292608"/>
          </a:xfrm>
          <a:prstGeom prst="ellipse">
            <a:avLst/>
          </a:prstGeom>
          <a:solidFill>
            <a:srgbClr val="2B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75504" y="4096511"/>
            <a:ext cx="2587752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3183B"/>
                </a:solidFill>
                <a:latin typeface="Calibri"/>
              </a:rPr>
              <a:t>Medios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4645151"/>
            <a:ext cx="295351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64748B"/>
                </a:solidFill>
                <a:latin typeface="Calibri"/>
              </a:rPr>
              <a:t>Subir y listar la biblioteca de medios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84463" y="3840479"/>
            <a:ext cx="3502152" cy="1737360"/>
          </a:xfrm>
          <a:prstGeom prst="roundRect">
            <a:avLst/>
          </a:prstGeom>
          <a:solidFill>
            <a:srgbClr val="EEF2FB"/>
          </a:solidFill>
          <a:ln w="12700">
            <a:solidFill>
              <a:srgbClr val="D7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558784" y="4151375"/>
            <a:ext cx="292608" cy="292608"/>
          </a:xfrm>
          <a:prstGeom prst="ellipse">
            <a:avLst/>
          </a:prstGeom>
          <a:solidFill>
            <a:srgbClr val="2B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97695" y="4096511"/>
            <a:ext cx="2587752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3183B"/>
                </a:solidFill>
                <a:latin typeface="Calibri"/>
              </a:rPr>
              <a:t>Ajustes y contexto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77072" y="4645151"/>
            <a:ext cx="295351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64748B"/>
                </a:solidFill>
                <a:latin typeface="Calibri"/>
              </a:rPr>
              <a:t>Ajustes del sitio + identidad y diseño del proyecto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B5CFF"/>
                </a:solidFill>
                <a:latin typeface="Calibri"/>
              </a:rPr>
              <a:t>SEGURIDAD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13183B"/>
                </a:solidFill>
                <a:latin typeface="Georgia"/>
              </a:rPr>
              <a:t>Seguro de usar, también en sitios de clientes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52578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96112" y="2139696"/>
            <a:ext cx="512064" cy="512064"/>
          </a:xfrm>
          <a:prstGeom prst="ellipse">
            <a:avLst/>
          </a:prstGeom>
          <a:solidFill>
            <a:srgbClr val="131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139696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201168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3183B"/>
                </a:solidFill>
                <a:latin typeface="Calibri"/>
              </a:rPr>
              <a:t>Permisos mínimos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414016"/>
            <a:ext cx="4160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Usuario dedicado acotado, nunca el admin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828800"/>
            <a:ext cx="52578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28232" y="2139696"/>
            <a:ext cx="512064" cy="512064"/>
          </a:xfrm>
          <a:prstGeom prst="ellipse">
            <a:avLst/>
          </a:prstGeom>
          <a:solidFill>
            <a:srgbClr val="131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8232" y="2139696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201168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3183B"/>
                </a:solidFill>
                <a:latin typeface="Calibri"/>
              </a:rPr>
              <a:t>Modo solo lectura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2414016"/>
            <a:ext cx="4160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Bloquea toda escritura para explorar sin riesgo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154680"/>
            <a:ext cx="52578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96112" y="3465576"/>
            <a:ext cx="512064" cy="512064"/>
          </a:xfrm>
          <a:prstGeom prst="ellipse">
            <a:avLst/>
          </a:prstGeom>
          <a:solidFill>
            <a:srgbClr val="131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3465576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33756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3183B"/>
                </a:solidFill>
                <a:latin typeface="Calibri"/>
              </a:rPr>
              <a:t>Auditoría + rate limit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3739896"/>
            <a:ext cx="4160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Registro de cada acción y tope por hora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154680"/>
            <a:ext cx="52578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28232" y="3465576"/>
            <a:ext cx="512064" cy="512064"/>
          </a:xfrm>
          <a:prstGeom prst="ellipse">
            <a:avLst/>
          </a:prstGeom>
          <a:solidFill>
            <a:srgbClr val="131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28232" y="3465576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333756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3183B"/>
                </a:solidFill>
                <a:latin typeface="Calibri"/>
              </a:rPr>
              <a:t>Backups automáticos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3739896"/>
            <a:ext cx="4160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Copia antes de tocar archivos, restaurable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480560"/>
            <a:ext cx="52578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96112" y="4791456"/>
            <a:ext cx="512064" cy="512064"/>
          </a:xfrm>
          <a:prstGeom prst="ellipse">
            <a:avLst/>
          </a:prstGeom>
          <a:solidFill>
            <a:srgbClr val="131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4791456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020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3183B"/>
                </a:solidFill>
                <a:latin typeface="Calibri"/>
              </a:rPr>
              <a:t>Confirmación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5065776"/>
            <a:ext cx="4160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Obligatoria en operaciones destructivas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72200" y="4480560"/>
            <a:ext cx="52578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8232" y="4791456"/>
            <a:ext cx="512064" cy="512064"/>
          </a:xfrm>
          <a:prstGeom prst="ellipse">
            <a:avLst/>
          </a:prstGeom>
          <a:solidFill>
            <a:srgbClr val="131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8232" y="4791456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3183B"/>
                </a:solidFill>
                <a:latin typeface="Calibri"/>
              </a:rPr>
              <a:t>Anti “romper la web”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0" y="5065776"/>
            <a:ext cx="4160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Valida el PHP y revierte solo si hay error fatal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B5CFF"/>
                </a:solidFill>
                <a:latin typeface="Calibri"/>
              </a:rPr>
              <a:t>PERSONALIZACIÓN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13183B"/>
                </a:solidFill>
                <a:latin typeface="Georgia"/>
              </a:rPr>
              <a:t>Contexto del proyecto y Figma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59436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222733"/>
                </a:solidFill>
                <a:latin typeface="Calibri"/>
              </a:rPr>
              <a:t>El plugin guarda la identidad de cada web y se la da a la IA:</a:t>
            </a:r>
          </a:p>
          <a:p>
            <a:pPr algn="l">
              <a:spcAft>
                <a:spcPts val="700"/>
              </a:spcAft>
            </a:pPr>
            <a:r>
              <a:rPr sz="1400" b="0" i="0">
                <a:solidFill>
                  <a:srgbClr val="222733"/>
                </a:solidFill>
                <a:latin typeface="Calibri"/>
              </a:rPr>
              <a:t>•   Marca y voz, sistema de diseño y documentos.</a:t>
            </a:r>
          </a:p>
          <a:p>
            <a:pPr algn="l">
              <a:spcAft>
                <a:spcPts val="700"/>
              </a:spcAft>
            </a:pPr>
            <a:r>
              <a:rPr sz="1400" b="0" i="0">
                <a:solidFill>
                  <a:srgbClr val="222733"/>
                </a:solidFill>
                <a:latin typeface="Calibri"/>
              </a:rPr>
              <a:t>•   Sincroniza colores y tipografías desde Figma.</a:t>
            </a:r>
          </a:p>
          <a:p>
            <a:pPr algn="l">
              <a:spcAft>
                <a:spcPts val="700"/>
              </a:spcAft>
            </a:pPr>
            <a:r>
              <a:rPr sz="1400" b="0" i="0">
                <a:solidFill>
                  <a:srgbClr val="222733"/>
                </a:solidFill>
                <a:latin typeface="Calibri"/>
              </a:rPr>
              <a:t>•   Pega el enlace de un bloque de Figma y la IA lo replica.</a:t>
            </a:r>
          </a:p>
          <a:p>
            <a:pPr algn="l"/>
            <a:r>
              <a:rPr sz="1400" b="0" i="0">
                <a:solidFill>
                  <a:srgbClr val="222733"/>
                </a:solidFill>
                <a:latin typeface="Calibri"/>
              </a:rPr>
              <a:t>•   Viaja con el sitio: acción get-project-context.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49440" y="1920240"/>
            <a:ext cx="4572000" cy="3749039"/>
          </a:xfrm>
          <a:prstGeom prst="roundRect">
            <a:avLst/>
          </a:prstGeom>
          <a:solidFill>
            <a:srgbClr val="EEF2FB"/>
          </a:solidFill>
          <a:ln w="12700">
            <a:solidFill>
              <a:srgbClr val="D7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23760" y="2148840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3183B"/>
                </a:solidFill>
                <a:latin typeface="Calibri"/>
              </a:rPr>
              <a:t>Tokens sincronizados (ejemplo)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23760" y="2697480"/>
            <a:ext cx="658368" cy="658368"/>
          </a:xfrm>
          <a:prstGeom prst="roundRect">
            <a:avLst/>
          </a:prstGeom>
          <a:solidFill>
            <a:srgbClr val="B00014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46720" y="2697480"/>
            <a:ext cx="658368" cy="658368"/>
          </a:xfrm>
          <a:prstGeom prst="roundRect">
            <a:avLst/>
          </a:prstGeom>
          <a:solidFill>
            <a:srgbClr val="DC001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869680" y="2697480"/>
            <a:ext cx="658368" cy="658368"/>
          </a:xfrm>
          <a:prstGeom prst="roundRect">
            <a:avLst/>
          </a:prstGeom>
          <a:solidFill>
            <a:srgbClr val="E3334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92640" y="2697480"/>
            <a:ext cx="658368" cy="658368"/>
          </a:xfrm>
          <a:prstGeom prst="roundRect">
            <a:avLst/>
          </a:prstGeom>
          <a:solidFill>
            <a:srgbClr val="84000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515600" y="2697480"/>
            <a:ext cx="658368" cy="658368"/>
          </a:xfrm>
          <a:prstGeom prst="roundRect">
            <a:avLst/>
          </a:prstGeom>
          <a:solidFill>
            <a:srgbClr val="2C0005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223760" y="3538728"/>
            <a:ext cx="658368" cy="658368"/>
          </a:xfrm>
          <a:prstGeom prst="roundRect">
            <a:avLst/>
          </a:prstGeom>
          <a:solidFill>
            <a:srgbClr val="A18D7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46720" y="3538728"/>
            <a:ext cx="658368" cy="658368"/>
          </a:xfrm>
          <a:prstGeom prst="roundRect">
            <a:avLst/>
          </a:prstGeom>
          <a:solidFill>
            <a:srgbClr val="C0B39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869680" y="3538728"/>
            <a:ext cx="658368" cy="658368"/>
          </a:xfrm>
          <a:prstGeom prst="roundRect">
            <a:avLst/>
          </a:prstGeom>
          <a:solidFill>
            <a:srgbClr val="333333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692640" y="3538728"/>
            <a:ext cx="658368" cy="658368"/>
          </a:xfrm>
          <a:prstGeom prst="roundRect">
            <a:avLst/>
          </a:prstGeom>
          <a:solidFill>
            <a:srgbClr val="80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515600" y="3538728"/>
            <a:ext cx="658368" cy="658368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0" y="4572000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1">
                <a:solidFill>
                  <a:srgbClr val="64748B"/>
                </a:solidFill>
                <a:latin typeface="Calibri"/>
              </a:rPr>
              <a:t>Inter · 64 / 24 / 14 px · pesos 400–700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5029200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B5CFF"/>
                </a:solidFill>
                <a:latin typeface="Calibri"/>
              </a:rPr>
              <a:t>29 colores · 7 estilos de texto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B5CFF"/>
                </a:solidFill>
                <a:latin typeface="Calibri"/>
              </a:rPr>
              <a:t>CONTEXTO PERSISTENTE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13183B"/>
                </a:solidFill>
                <a:latin typeface="Georgia"/>
              </a:rPr>
              <a:t>Memoria de proyecto: CLAUDE.md automático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222733"/>
                </a:solidFill>
                <a:latin typeface="Calibri"/>
              </a:rPr>
              <a:t>El plugin genera y mantiene un CLAUDE.md en la raíz del sitio. Claude lo lee al empezar, así cada conversación arranca informada sin repetir nada.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10881360" cy="2926080"/>
          </a:xfrm>
          <a:prstGeom prst="roundRect">
            <a:avLst/>
          </a:prstGeom>
          <a:solidFill>
            <a:srgbClr val="131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3108960"/>
            <a:ext cx="1014984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7C8AB8"/>
                </a:solidFill>
                <a:latin typeface="Consolas"/>
              </a:rPr>
              <a:t>&lt;!-- DOERS:AUTO:START --&gt;</a:t>
            </a:r>
          </a:p>
          <a:p>
            <a:pPr algn="l"/>
            <a:r>
              <a:rPr sz="1350" b="1" i="0">
                <a:solidFill>
                  <a:srgbClr val="FFFFFF"/>
                </a:solidFill>
                <a:latin typeface="Consolas"/>
              </a:rPr>
              <a:t># Contexto del sitio (Doers AI)</a:t>
            </a:r>
          </a:p>
          <a:p>
            <a:pPr algn="l"/>
            <a:r>
              <a:rPr sz="1350" b="0" i="0">
                <a:solidFill>
                  <a:srgbClr val="CADCFC"/>
                </a:solidFill>
                <a:latin typeface="Consolas"/>
              </a:rPr>
              <a:t>· Estado: WordPress, tema, plugins, contenido</a:t>
            </a:r>
          </a:p>
          <a:p>
            <a:pPr algn="l"/>
            <a:r>
              <a:rPr sz="1350" b="0" i="0">
                <a:solidFill>
                  <a:srgbClr val="CADCFC"/>
                </a:solidFill>
                <a:latin typeface="Consolas"/>
              </a:rPr>
              <a:t>· Reglas: contenido por MCP · tema por archivos · confirmar lo destructivo</a:t>
            </a:r>
          </a:p>
          <a:p>
            <a:pPr algn="l"/>
            <a:r>
              <a:rPr sz="1350" b="0" i="0">
                <a:solidFill>
                  <a:srgbClr val="CADCFC"/>
                </a:solidFill>
                <a:latin typeface="Consolas"/>
              </a:rPr>
              <a:t>· Sistema de diseño y Figma sincronizados</a:t>
            </a:r>
          </a:p>
          <a:p>
            <a:pPr algn="l"/>
            <a:r>
              <a:rPr sz="1350" b="0" i="0">
                <a:solidFill>
                  <a:srgbClr val="7C8AB8"/>
                </a:solidFill>
                <a:latin typeface="Consolas"/>
              </a:rPr>
              <a:t>&lt;!-- DOERS:AUTO:END --&gt;</a:t>
            </a:r>
          </a:p>
          <a:p>
            <a:pPr algn="l"/>
            <a:r>
              <a:rPr sz="1350" b="0" i="0">
                <a:solidFill>
                  <a:srgbClr val="9DECC4"/>
                </a:solidFill>
                <a:latin typeface="Consolas"/>
              </a:rPr>
              <a:t># Tus notas del proyecto (no se sobrescriben)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B5CFF"/>
                </a:solidFill>
                <a:latin typeface="Calibri"/>
              </a:rPr>
              <a:t>DÓNDE ESTAMOS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13183B"/>
                </a:solidFill>
                <a:latin typeface="Georgia"/>
              </a:rPr>
              <a:t>Estado actual y próximos pasos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3310128" cy="1828800"/>
          </a:xfrm>
          <a:prstGeom prst="roundRect">
            <a:avLst/>
          </a:prstGeom>
          <a:solidFill>
            <a:srgbClr val="EEF2FB"/>
          </a:solidFill>
          <a:ln w="12700">
            <a:solidFill>
              <a:srgbClr val="D7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331012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800" b="1" i="0">
                <a:solidFill>
                  <a:srgbClr val="2B5CFF"/>
                </a:solidFill>
                <a:latin typeface="Georgia"/>
              </a:rPr>
              <a:t>0.7.0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94436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 i="0">
                <a:solidFill>
                  <a:srgbClr val="64748B"/>
                </a:solidFill>
                <a:latin typeface="Calibri"/>
              </a:rPr>
              <a:t>Versión actual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07408" y="1828800"/>
            <a:ext cx="3310128" cy="1828800"/>
          </a:xfrm>
          <a:prstGeom prst="roundRect">
            <a:avLst/>
          </a:prstGeom>
          <a:solidFill>
            <a:srgbClr val="EEF2FB"/>
          </a:solidFill>
          <a:ln w="12700">
            <a:solidFill>
              <a:srgbClr val="D7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07408" y="2103120"/>
            <a:ext cx="331012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800" b="1" i="0">
                <a:solidFill>
                  <a:srgbClr val="2B5CFF"/>
                </a:solidFill>
                <a:latin typeface="Georgia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90288" y="2971800"/>
            <a:ext cx="294436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 i="0">
                <a:solidFill>
                  <a:srgbClr val="64748B"/>
                </a:solidFill>
                <a:latin typeface="Calibri"/>
              </a:rPr>
              <a:t>Sitios probados: local · Budweiser · BarLab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74736" y="1828800"/>
            <a:ext cx="3310128" cy="1828800"/>
          </a:xfrm>
          <a:prstGeom prst="roundRect">
            <a:avLst/>
          </a:prstGeom>
          <a:solidFill>
            <a:srgbClr val="EEF2FB"/>
          </a:solidFill>
          <a:ln w="12700">
            <a:solidFill>
              <a:srgbClr val="D7DE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74736" y="2103120"/>
            <a:ext cx="331012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800" b="1" i="0">
                <a:solidFill>
                  <a:srgbClr val="2B5CFF"/>
                </a:solidFill>
                <a:latin typeface="Georgia"/>
              </a:rPr>
              <a:t>OAuth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7615" y="2971800"/>
            <a:ext cx="294436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 i="0">
                <a:solidFill>
                  <a:srgbClr val="64748B"/>
                </a:solidFill>
                <a:latin typeface="Calibri"/>
              </a:rPr>
              <a:t>Listo para producción con HTTPS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160520"/>
            <a:ext cx="108813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700" b="1" i="0">
                <a:solidFill>
                  <a:srgbClr val="13183B"/>
                </a:solidFill>
                <a:latin typeface="Calibri"/>
              </a:rPr>
              <a:t>Próximos pasos</a:t>
            </a:r>
          </a:p>
          <a:p>
            <a:pPr algn="l">
              <a:spcAft>
                <a:spcPts val="700"/>
              </a:spcAft>
            </a:pPr>
            <a:r>
              <a:rPr sz="1450" b="0" i="0">
                <a:solidFill>
                  <a:srgbClr val="222733"/>
                </a:solidFill>
                <a:latin typeface="Calibri"/>
              </a:rPr>
              <a:t>•   Estrenar la creación de bloques desde enlaces de Figma en un proyecto real.</a:t>
            </a:r>
          </a:p>
          <a:p>
            <a:pPr algn="l">
              <a:spcAft>
                <a:spcPts val="700"/>
              </a:spcAft>
            </a:pPr>
            <a:r>
              <a:rPr sz="1450" b="0" i="0">
                <a:solidFill>
                  <a:srgbClr val="222733"/>
                </a:solidFill>
                <a:latin typeface="Calibri"/>
              </a:rPr>
              <a:t>•   Subir el repositorio y estandarizar el onboarding por cliente.</a:t>
            </a:r>
          </a:p>
          <a:p>
            <a:pPr algn="l"/>
            <a:r>
              <a:rPr sz="1450" b="0" i="0">
                <a:solidFill>
                  <a:srgbClr val="222733"/>
                </a:solidFill>
                <a:latin typeface="Calibri"/>
              </a:rPr>
              <a:t>•   Probar OAuth en un staging con HTTPS.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8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188720" y="4297680"/>
            <a:ext cx="3840480" cy="3840480"/>
          </a:xfrm>
          <a:prstGeom prst="ellipse">
            <a:avLst/>
          </a:prstGeom>
          <a:solidFill>
            <a:srgbClr val="1C2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14600"/>
            <a:ext cx="10332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Georgia"/>
              </a:rPr>
              <a:t>WordPress, ahora conversacional.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11880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9DB2FF"/>
                </a:solidFill>
                <a:latin typeface="Calibri"/>
              </a:rPr>
              <a:t>Doers AI Connector  ·  ¿Preguntas?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